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a9056b82b4c63" /><Relationship Type="http://schemas.openxmlformats.org/officeDocument/2006/relationships/extended-properties" Target="/docProps/app.xml" Id="R19a760c3f78c4ad6" /><Relationship Type="http://schemas.openxmlformats.org/officeDocument/2006/relationships/officeDocument" Target="/ppt/presentation.xml" Id="R4bf603fcfaca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09c74f1d94b7a"/>
  </p:sldMasterIdLst>
  <p:notesMasterIdLst>
    <p:notesMasterId xmlns:r="http://schemas.openxmlformats.org/officeDocument/2006/relationships" r:id="Rc226cd06d10348da"/>
  </p:notesMasterIdLst>
  <p:sldIdLst>
    <p:sldId xmlns:r="http://schemas.openxmlformats.org/officeDocument/2006/relationships" id="256" r:id="R73e7f382574d4508"/>
    <p:sldId xmlns:r="http://schemas.openxmlformats.org/officeDocument/2006/relationships" id="257" r:id="R45569f2a7eca4070"/>
    <p:sldId xmlns:r="http://schemas.openxmlformats.org/officeDocument/2006/relationships" id="258" r:id="R84636737b16d47f7"/>
    <p:sldId xmlns:r="http://schemas.openxmlformats.org/officeDocument/2006/relationships" id="259" r:id="Rb789f17d5fc54b86"/>
    <p:sldId xmlns:r="http://schemas.openxmlformats.org/officeDocument/2006/relationships" id="260" r:id="Re3530c0fc8d2472d"/>
    <p:sldId xmlns:r="http://schemas.openxmlformats.org/officeDocument/2006/relationships" id="261" r:id="R5e68ce17954149e0"/>
    <p:sldId xmlns:r="http://schemas.openxmlformats.org/officeDocument/2006/relationships" id="262" r:id="Rcdfa0b9dae2f4a75"/>
    <p:sldId xmlns:r="http://schemas.openxmlformats.org/officeDocument/2006/relationships" id="263" r:id="Ra0229949879647b0"/>
    <p:sldId xmlns:r="http://schemas.openxmlformats.org/officeDocument/2006/relationships" id="264" r:id="Rca8397c8b24b4a1e"/>
    <p:sldId xmlns:r="http://schemas.openxmlformats.org/officeDocument/2006/relationships" id="265" r:id="Reb4e53276e294512"/>
    <p:sldId xmlns:r="http://schemas.openxmlformats.org/officeDocument/2006/relationships" id="266" r:id="R171fa05a3c5643a7"/>
    <p:sldId xmlns:r="http://schemas.openxmlformats.org/officeDocument/2006/relationships" id="267" r:id="Re99dfb9504ce4ebf"/>
    <p:sldId xmlns:r="http://schemas.openxmlformats.org/officeDocument/2006/relationships" id="268" r:id="Rc96185d244be4929"/>
    <p:sldId xmlns:r="http://schemas.openxmlformats.org/officeDocument/2006/relationships" id="269" r:id="R5dc312e763554ea3"/>
    <p:sldId xmlns:r="http://schemas.openxmlformats.org/officeDocument/2006/relationships" id="270" r:id="Re3cf86c7d3de44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d06eabb5234ff8" /><Relationship Type="http://schemas.openxmlformats.org/officeDocument/2006/relationships/slideMaster" Target="/ppt/slideMasters/slideMaster1.xml" Id="R49909c74f1d94b7a" /><Relationship Type="http://schemas.openxmlformats.org/officeDocument/2006/relationships/notesMaster" Target="/ppt/notesMasters/notesMaster1.xml" Id="Rc226cd06d10348da" /><Relationship Type="http://schemas.openxmlformats.org/officeDocument/2006/relationships/presProps" Target="/ppt/presProps.xml" Id="R130589d1653f4c84" /><Relationship Type="http://schemas.openxmlformats.org/officeDocument/2006/relationships/tableStyles" Target="/ppt/tableStyles.xml" Id="R35f0f57310ef42d8" /><Relationship Type="http://schemas.openxmlformats.org/officeDocument/2006/relationships/slide" Target="/ppt/slides/slide1.xml" Id="R73e7f382574d4508" /><Relationship Type="http://schemas.openxmlformats.org/officeDocument/2006/relationships/slide" Target="/ppt/slides/slide2.xml" Id="R45569f2a7eca4070" /><Relationship Type="http://schemas.openxmlformats.org/officeDocument/2006/relationships/slide" Target="/ppt/slides/slide3.xml" Id="R84636737b16d47f7" /><Relationship Type="http://schemas.openxmlformats.org/officeDocument/2006/relationships/slide" Target="/ppt/slides/slide4.xml" Id="Rb789f17d5fc54b86" /><Relationship Type="http://schemas.openxmlformats.org/officeDocument/2006/relationships/slide" Target="/ppt/slides/slide5.xml" Id="Re3530c0fc8d2472d" /><Relationship Type="http://schemas.openxmlformats.org/officeDocument/2006/relationships/slide" Target="/ppt/slides/slide6.xml" Id="R5e68ce17954149e0" /><Relationship Type="http://schemas.openxmlformats.org/officeDocument/2006/relationships/slide" Target="/ppt/slides/slide7.xml" Id="Rcdfa0b9dae2f4a75" /><Relationship Type="http://schemas.openxmlformats.org/officeDocument/2006/relationships/slide" Target="/ppt/slides/slide8.xml" Id="Ra0229949879647b0" /><Relationship Type="http://schemas.openxmlformats.org/officeDocument/2006/relationships/slide" Target="/ppt/slides/slide9.xml" Id="Rca8397c8b24b4a1e" /><Relationship Type="http://schemas.openxmlformats.org/officeDocument/2006/relationships/slide" Target="/ppt/slides/slide10.xml" Id="Reb4e53276e294512" /><Relationship Type="http://schemas.openxmlformats.org/officeDocument/2006/relationships/slide" Target="/ppt/slides/slide11.xml" Id="R171fa05a3c5643a7" /><Relationship Type="http://schemas.openxmlformats.org/officeDocument/2006/relationships/slide" Target="/ppt/slides/slide12.xml" Id="Re99dfb9504ce4ebf" /><Relationship Type="http://schemas.openxmlformats.org/officeDocument/2006/relationships/slide" Target="/ppt/slides/slide13.xml" Id="Rc96185d244be4929" /><Relationship Type="http://schemas.openxmlformats.org/officeDocument/2006/relationships/slide" Target="/ppt/slides/slide14.xml" Id="R5dc312e763554ea3" /><Relationship Type="http://schemas.openxmlformats.org/officeDocument/2006/relationships/slide" Target="/ppt/slides/slide15.xml" Id="Re3cf86c7d3de44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17a7a90854d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ffb44eb1547e4" /><Relationship Type="http://schemas.openxmlformats.org/officeDocument/2006/relationships/notesMaster" Target="/ppt/notesMasters/notesMaster1.xml" Id="R435cf510d2d2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73d075154b4000" /><Relationship Type="http://schemas.openxmlformats.org/officeDocument/2006/relationships/notesMaster" Target="/ppt/notesMasters/notesMaster1.xml" Id="R5c18060822b24a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ae04cd5ee043a5" /><Relationship Type="http://schemas.openxmlformats.org/officeDocument/2006/relationships/notesMaster" Target="/ppt/notesMasters/notesMaster1.xml" Id="R9774e55d23d14d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22d763ba474688" /><Relationship Type="http://schemas.openxmlformats.org/officeDocument/2006/relationships/notesMaster" Target="/ppt/notesMasters/notesMaster1.xml" Id="Rf2df4e67c50a4f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9e3da148a147e3" /><Relationship Type="http://schemas.openxmlformats.org/officeDocument/2006/relationships/notesMaster" Target="/ppt/notesMasters/notesMaster1.xml" Id="R202ec6a58fb543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b683811c04356" /><Relationship Type="http://schemas.openxmlformats.org/officeDocument/2006/relationships/notesMaster" Target="/ppt/notesMasters/notesMaster1.xml" Id="R65aecd488b2f47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cc8e8a800f47f5" /><Relationship Type="http://schemas.openxmlformats.org/officeDocument/2006/relationships/notesMaster" Target="/ppt/notesMasters/notesMaster1.xml" Id="R16895f23a0f540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fa6a9f5c544855" /><Relationship Type="http://schemas.openxmlformats.org/officeDocument/2006/relationships/notesMaster" Target="/ppt/notesMasters/notesMaster1.xml" Id="Rece8fed28152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4ca44b59e749ea" /><Relationship Type="http://schemas.openxmlformats.org/officeDocument/2006/relationships/notesMaster" Target="/ppt/notesMasters/notesMaster1.xml" Id="R2ecb9c87b13442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2fb6aa78004842" /><Relationship Type="http://schemas.openxmlformats.org/officeDocument/2006/relationships/notesMaster" Target="/ppt/notesMasters/notesMaster1.xml" Id="R66c0123b5c6743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a2f58a43cc4f6b" /><Relationship Type="http://schemas.openxmlformats.org/officeDocument/2006/relationships/notesMaster" Target="/ppt/notesMasters/notesMaster1.xml" Id="R5efe7b9764b243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e8dec3c3514cff" /><Relationship Type="http://schemas.openxmlformats.org/officeDocument/2006/relationships/notesMaster" Target="/ppt/notesMasters/notesMaster1.xml" Id="Rd986cc84079d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33cd2f00c644d4" /><Relationship Type="http://schemas.openxmlformats.org/officeDocument/2006/relationships/notesMaster" Target="/ppt/notesMasters/notesMaster1.xml" Id="R0ad94f3a0a774e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e259f384a745b6" /><Relationship Type="http://schemas.openxmlformats.org/officeDocument/2006/relationships/notesMaster" Target="/ppt/notesMasters/notesMaster1.xml" Id="R85c98ec017174c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e24a98c74344e3" /><Relationship Type="http://schemas.openxmlformats.org/officeDocument/2006/relationships/notesMaster" Target="/ppt/notesMasters/notesMaster1.xml" Id="R860a7ee1bccf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desired follow-up experience, not with a feature list. Explain that the deck uses synthetic data and separates current prototype screens from future product directions.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Health/PROJECT_MEMORY.md — product thesis and doctor-control boundary</a:t>
            </a:r>
          </a:p>
          <a:p xmlns:a="http://schemas.openxmlformats.org/drawingml/2006/main">
            <a:r>
              <a:t>- /Users/Neelesh/Documents/Smaran Health/tmp/presentations/smaran-doctor-vision-2026/assets/cover-doctor-patient-v4-no-portal.png — generated square editorial visual with the marked cream portal and coral node removed; desktop monitor, keyboard, mouse and mint memory ribbon retained; prompt recorded in source-notes.txt</a:t>
            </a:r>
          </a:p>
          <a:p xmlns:a="http://schemas.openxmlformats.org/drawingml/2006/main">
            <a:r>
              <a:t>- /Users/Neelesh/Documents/Smaran Health/apps/website/public/favicon.svg — Smaran brand mark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these as workflow hypotheses to validate with doctors. The visual metaphor is one story dispersed across common clinic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doctor jobs-to-be-done and patient-memory requirements</a:t>
            </a:r>
          </a:p>
          <a:p xmlns:a="http://schemas.openxmlformats.org/drawingml/2006/main">
            <a:r>
              <a:t>- /Users/Neelesh/Documents/Smaran Health/PROJECT_MEMORY.md — longitudinal patient-story thesis</a:t>
            </a:r>
          </a:p>
          <a:p xmlns:a="http://schemas.openxmlformats.org/drawingml/2006/main">
            <a:r>
              <a:t>- /Users/Neelesh/Documents/Smaran Health/tmp/presentations/smaran-doctor-vision-2026/assets/fragmented-story.png — generated editorial visual;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approval gate the center of the explanation. Every downstream memory object comes only from doctor-approved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Health/PROJECT_MEMORY.md — core workflow and safety invariants</a:t>
            </a:r>
          </a:p>
          <a:p xmlns:a="http://schemas.openxmlformats.org/drawingml/2006/main">
            <a:r>
              <a:t>- /Users/Neelesh/Documents/Smaran Health/AGENTS.md — AI pipeline and clinical note state machine</a:t>
            </a:r>
          </a:p>
          <a:p xmlns:a="http://schemas.openxmlformats.org/drawingml/2006/main">
            <a:r>
              <a:t>- /Users/Neelesh/Documents/Smaran Health/PRODUCT.md — AI responsibilities and prohibited actions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patient journey includes patient onboarding, consent, recording, doctor approval, approved sharing, and a context-rich return 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core consultation workflow and future sharing direction</a:t>
            </a:r>
          </a:p>
          <a:p xmlns:a="http://schemas.openxmlformats.org/drawingml/2006/main">
            <a:r>
              <a:t>- /Users/Neelesh/Documents/Smaran Health/PROJECT_MEMORY.md — approved-memory workflow</a:t>
            </a:r>
          </a:p>
          <a:p xmlns:a="http://schemas.openxmlformats.org/drawingml/2006/main">
            <a:r>
              <a:t>- /Users/Neelesh/Documents/Smaran Health/tmp/presentations/smaran-doctor-vision-2026/assets/patient-journey.png — generated journey visual;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future workflow, not a shipped onboarding screen. Emphasize minimal effort and clinic-scoped identity rather than a long registration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patient creation, roles, dashboard and consent requirements</a:t>
            </a:r>
          </a:p>
          <a:p xmlns:a="http://schemas.openxmlformats.org/drawingml/2006/main">
            <a:r>
              <a:t>- /Users/Neelesh/Documents/Smaran Health/AGENTS.md — clinic-scoped access and assistant permissions</a:t>
            </a:r>
          </a:p>
          <a:p xmlns:a="http://schemas.openxmlformats.org/drawingml/2006/main">
            <a:r>
              <a:t>- /Users/Neelesh/Documents/Smaran Health/apps/website/app/prototype/mock-data.ts — synthetic patient Ananya 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current synthetic prototype screens. Point out the separate consent scopes and explicit recording controls. No real patient data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Health/docs/prototype/task-10-workflow.md — consent and recording state contract</a:t>
            </a:r>
          </a:p>
          <a:p xmlns:a="http://schemas.openxmlformats.org/drawingml/2006/main">
            <a:r>
              <a:t>- /Users/Neelesh/Documents/Smaran Health/docs/prototype/task-14-doctor-test.md — moderated workflow test</a:t>
            </a:r>
          </a:p>
          <a:p xmlns:a="http://schemas.openxmlformats.org/drawingml/2006/main">
            <a:r>
              <a:t>- /Users/Neelesh/Documents/Smaran Health/apps/website/app/prototype/page.tsx — synthetic prototype implementation</a:t>
            </a:r>
          </a:p>
          <a:p xmlns:a="http://schemas.openxmlformats.org/drawingml/2006/main">
            <a:r>
              <a:t>- /Users/Neelesh/Documents/Smaran Health/tmp/presentations/smaran-doctor-vision-2026/assets/prototype-consent.png and prototype-recording.png — local prototype screenshots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doctor control as a product feature. Rejected drafts never enter the patient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Health/docs/prototype/task-10-workflow.md — draft review, rejection and approval state contract</a:t>
            </a:r>
          </a:p>
          <a:p xmlns:a="http://schemas.openxmlformats.org/drawingml/2006/main">
            <a:r>
              <a:t>- /Users/Neelesh/Documents/Smaran Health/AGENTS.md — clinical note state machine and AI output validation</a:t>
            </a:r>
          </a:p>
          <a:p xmlns:a="http://schemas.openxmlformats.org/drawingml/2006/main">
            <a:r>
              <a:t>- /Users/Neelesh/Documents/Smaran Health/apps/website/app/prototype/page.tsx — synthetic draft-review implementation</a:t>
            </a:r>
          </a:p>
          <a:p xmlns:a="http://schemas.openxmlformats.org/drawingml/2006/main">
            <a:r>
              <a:t>- /Users/Neelesh/Documents/Smaran Health/tmp/presentations/smaran-doctor-vision-2026/assets/prototype-draft-review.png — local prototype screenshot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memory view in three questions: why is the patient here, what changed, and what remains open? The visible patient is fully synthetic.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patient profile, timeline and follow-up-memory requirements</a:t>
            </a:r>
          </a:p>
          <a:p xmlns:a="http://schemas.openxmlformats.org/drawingml/2006/main">
            <a:r>
              <a:t>- /Users/Neelesh/Documents/Smaran Health/apps/website/app/prototype/mock-data.ts — synthetic Ananya S. approved history</a:t>
            </a:r>
          </a:p>
          <a:p xmlns:a="http://schemas.openxmlformats.org/drawingml/2006/main">
            <a:r>
              <a:t>- /Users/Neelesh/Documents/Smaran Health/docs/prototype/task-10-workflow.md — approved-history-only rule</a:t>
            </a:r>
          </a:p>
          <a:p xmlns:a="http://schemas.openxmlformats.org/drawingml/2006/main">
            <a:r>
              <a:t>- /Users/Neelesh/Documents/Smaran Health/tmp/presentations/smaran-doctor-vision-2026/assets/prototype-patient-profile.png — local prototype screenshot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future concept, not a live lab integration. The five-point HbA1c series is illustrative: the sourced synthetic example provides the 8.4% and 7.1% endpoints, while the three intermediate values were added only to demonstrate how the last five follow-ups could be visualized. Dates, units, source and verification should remain attached to every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examination findings, investigation values and future dashboard direction</a:t>
            </a:r>
          </a:p>
          <a:p xmlns:a="http://schemas.openxmlformats.org/drawingml/2006/main">
            <a:r>
              <a:t>- /Users/Neelesh/Documents/Smaran Health/docs/sample-transcripts/SYN-DM-001-improved-hba1c-followup.txt — synthetic 8.4% to 7.1% example</a:t>
            </a:r>
          </a:p>
          <a:p xmlns:a="http://schemas.openxmlformats.org/drawingml/2006/main">
            <a:r>
              <a:t>- /Users/Neelesh/Documents/Smaran Health/PROJECT_MEMORY.md — no inference, provenance and explicit verification requirements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brief answers three questions before the next consultation: why the patient is returning, what changed, and what remains open. Avoid using AI-generated clinical suggestions.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Health/apps/website/app/prototype/mock-data.ts — synthetic follow-up memory and transcript</a:t>
            </a:r>
          </a:p>
          <a:p xmlns:a="http://schemas.openxmlformats.org/drawingml/2006/main">
            <a:r>
              <a:t>- /Users/Neelesh/Documents/Smaran Health/docs/prototype/task-10-workflow.md — approved-memory contract</a:t>
            </a:r>
          </a:p>
          <a:p xmlns:a="http://schemas.openxmlformats.org/drawingml/2006/main">
            <a:r>
              <a:t>- /Users/Neelesh/Documents/Smaran Health/PROJECT_MEMORY.md — use unresolved items from approved records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WhatsApp sharing is a future direction. The channel requires separate consent, a checked recipient and a deliberate send. Smaran must never independently generate or modify a prescription.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WhatsApp after the first pilot and no automated sharing before approval</a:t>
            </a:r>
          </a:p>
          <a:p xmlns:a="http://schemas.openxmlformats.org/drawingml/2006/main">
            <a:r>
              <a:t>- /Users/Neelesh/Documents/Smaran Health/PROJECT_MEMORY.md — patient-facing sharing requires doctor approval and scoped consent</a:t>
            </a:r>
          </a:p>
          <a:p xmlns:a="http://schemas.openxmlformats.org/drawingml/2006/main">
            <a:r>
              <a:t>- /Users/Neelesh/Documents/Smaran Health/AGENTS.md — no prescribing, prescription modification or unapproved export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future dashboard makes administrative work visible: drafts awaiting approval, doctor-defined follow-ups and pending reports. Counts and initials are illustrative synthetic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Health/PRODUCT.md — Today dashboard, missed follow-ups, pending investigations and future clinic metrics</a:t>
            </a:r>
          </a:p>
          <a:p xmlns:a="http://schemas.openxmlformats.org/drawingml/2006/main">
            <a:r>
              <a:t>- /Users/Neelesh/Documents/Smaran Health/AGENTS.md — role permissions, privacy and no autonomous clinical decisions</a:t>
            </a:r>
          </a:p>
          <a:p xmlns:a="http://schemas.openxmlformats.org/drawingml/2006/main">
            <a:r>
              <a:t>- /Users/Neelesh/Documents/Smaran Health/PROJECT_MEMORY.md — dashboard and follow-up effects remain unvalidated directions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each causal path as a hypothesis. Smaran is not a lead-generation engine, and the repository contains no evidence of increased footfall or follow-up counts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Health/PROJECT_MEMORY.md — pilot measurement rules and current maturity</a:t>
            </a:r>
          </a:p>
          <a:p xmlns:a="http://schemas.openxmlformats.org/drawingml/2006/main">
            <a:r>
              <a:t>- /Users/Neelesh/Documents/Smaran Health/PRODUCT.md — doctor jobs, clinic jobs and pilot success metrics</a:t>
            </a:r>
          </a:p>
          <a:p xmlns:a="http://schemas.openxmlformats.org/drawingml/2006/main">
            <a:r>
              <a:t>- /Users/Neelesh/Documents/Smaran Health/ROADMAP.md — controlled-pilot measurement expectations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safety model is operational: consent, access control, provenance, explicit approval, private storage, safe analytics and attributable amendments.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Health/PROJECT_MEMORY.md — safety and privacy invariants</a:t>
            </a:r>
          </a:p>
          <a:p xmlns:a="http://schemas.openxmlformats.org/drawingml/2006/main">
            <a:r>
              <a:t>- /Users/Neelesh/Documents/Smaran Health/AGENTS.md — clinic_id scoping, private audio, no sensitive logs and approval rules</a:t>
            </a:r>
          </a:p>
          <a:p xmlns:a="http://schemas.openxmlformats.org/drawingml/2006/main">
            <a:r>
              <a:t>- /Users/Neelesh/Documents/Smaran Health/PRODUCT.md — doctor control, consent and auditability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doctor input, not by asking for a purchase. The planned pilot scope is a roadmap target and is intended to produce workflow evidence, not broad clinical-safety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/Users/Neelesh/Documents/Smaran Health/ROADMAP.md — controlled-pilot sequence and proposed scope</a:t>
            </a:r>
          </a:p>
          <a:p xmlns:a="http://schemas.openxmlformats.org/drawingml/2006/main">
            <a:r>
              <a:t>- /Users/Neelesh/Documents/Smaran Health/PROJECT_MEMORY.md — safety gates, current repository maturity and pilot measurement caution</a:t>
            </a:r>
          </a:p>
          <a:p xmlns:a="http://schemas.openxmlformats.org/drawingml/2006/main">
            <a:r>
              <a:t>- /Users/Neelesh/Documents/Smaran Health/docs/prototype/task-14-doctor-test.md — specialist walkthrough questions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f07d4854a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eef5f2a771423a" /><Relationship Type="http://schemas.openxmlformats.org/officeDocument/2006/relationships/slideLayout" Target="/ppt/slideLayouts/slideLayout1.xml" Id="R33bb0c3dc1fe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b0c3dc1fe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525cb373a4a95" /><Relationship Type="http://schemas.openxmlformats.org/officeDocument/2006/relationships/image" Target="/ppt/media/image.png" Id="R249dc0a596384923" /><Relationship Type="http://schemas.openxmlformats.org/officeDocument/2006/relationships/image" Target="/ppt/media/image2.png" Id="Re275a6943aff4219" /><Relationship Type="http://schemas.openxmlformats.org/officeDocument/2006/relationships/notesSlide" Target="/ppt/notesSlides/notesSlide1.xml" Id="Ra690f2a4eab34d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1e0d9b1a4d7c" /><Relationship Type="http://schemas.openxmlformats.org/officeDocument/2006/relationships/image" Target="/ppt/media/image3.png" Id="R84898d0569264099" /><Relationship Type="http://schemas.openxmlformats.org/officeDocument/2006/relationships/notesSlide" Target="/ppt/notesSlides/notesSlide2.xml" Id="Re076045f1f68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1bd29f0048e5" /><Relationship Type="http://schemas.openxmlformats.org/officeDocument/2006/relationships/notesSlide" Target="/ppt/notesSlides/notesSlide3.xml" Id="Rab8a89611cd9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2a224a7f44d5a" /><Relationship Type="http://schemas.openxmlformats.org/officeDocument/2006/relationships/image" Target="/ppt/media/image4.png" Id="R19f5ec8c04c649b0" /><Relationship Type="http://schemas.openxmlformats.org/officeDocument/2006/relationships/notesSlide" Target="/ppt/notesSlides/notesSlide4.xml" Id="R75352e11c45448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9e2530af041c4" /><Relationship Type="http://schemas.openxmlformats.org/officeDocument/2006/relationships/notesSlide" Target="/ppt/notesSlides/notesSlide5.xml" Id="R239318a67e034b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b0c9368df4eed" /><Relationship Type="http://schemas.openxmlformats.org/officeDocument/2006/relationships/image" Target="/ppt/media/image.jpeg" Id="R136551f14ba94eb8" /><Relationship Type="http://schemas.openxmlformats.org/officeDocument/2006/relationships/image" Target="/ppt/media/image2.jpeg" Id="Rfe89b87780b14768" /><Relationship Type="http://schemas.openxmlformats.org/officeDocument/2006/relationships/notesSlide" Target="/ppt/notesSlides/notesSlide6.xml" Id="Rbc075270c591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095c27ab24988" /><Relationship Type="http://schemas.openxmlformats.org/officeDocument/2006/relationships/image" Target="/ppt/media/image3.jpeg" Id="R204264a66c544c90" /><Relationship Type="http://schemas.openxmlformats.org/officeDocument/2006/relationships/notesSlide" Target="/ppt/notesSlides/notesSlide7.xml" Id="R5affacf2e34649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91a613b4a4ff7" /><Relationship Type="http://schemas.openxmlformats.org/officeDocument/2006/relationships/image" Target="/ppt/media/image4.jpeg" Id="Rdac38d6d2bd744e3" /><Relationship Type="http://schemas.openxmlformats.org/officeDocument/2006/relationships/notesSlide" Target="/ppt/notesSlides/notesSlide8.xml" Id="Rba44489b37454a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9d412bd74c67" /><Relationship Type="http://schemas.openxmlformats.org/officeDocument/2006/relationships/chart" Target="/ppt/slides/charts/chart1.xml" Id="R14500ef004544a17" /><Relationship Type="http://schemas.openxmlformats.org/officeDocument/2006/relationships/notesSlide" Target="/ppt/notesSlides/notesSlide9.xml" Id="Rd5bd62452ebb45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05cb4d0b44ad8" /><Relationship Type="http://schemas.openxmlformats.org/officeDocument/2006/relationships/notesSlide" Target="/ppt/notesSlides/notesSlide10.xml" Id="R7447080ebac24a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a166363084309" /><Relationship Type="http://schemas.openxmlformats.org/officeDocument/2006/relationships/notesSlide" Target="/ppt/notesSlides/notesSlide11.xml" Id="R6f34acf17c4543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db296a2a945c2" /><Relationship Type="http://schemas.openxmlformats.org/officeDocument/2006/relationships/notesSlide" Target="/ppt/notesSlides/notesSlide12.xml" Id="Rb4a001a8c5fb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4f5e3f68f4c52" /><Relationship Type="http://schemas.openxmlformats.org/officeDocument/2006/relationships/notesSlide" Target="/ppt/notesSlides/notesSlide13.xml" Id="Rf8e3034d240941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20207d0a14bbb" /><Relationship Type="http://schemas.openxmlformats.org/officeDocument/2006/relationships/notesSlide" Target="/ppt/notesSlides/notesSlide14.xml" Id="R644d4a04fc234d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b14870a4a4891" /><Relationship Type="http://schemas.openxmlformats.org/officeDocument/2006/relationships/notesSlide" Target="/ppt/notesSlides/notesSlide15.xml" Id="R3b4ba14ad122425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HbA1c</c:v>
          </c:tx>
          <c:spPr>
            <a:ln xmlns:a="http://schemas.openxmlformats.org/drawingml/2006/main" w="38100">
              <a:solidFill>
                <a:srgbClr val="315FCD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315FCD"/>
              </a:solidFill>
            </c:spPr>
          </c:marker>
          <c:cat>
            <c:strLit>
              <c:ptCount val="5"/>
              <c:pt idx="0">
                <c:v>F/U 1</c:v>
              </c:pt>
              <c:pt idx="1">
                <c:v>F/U 2</c:v>
              </c:pt>
              <c:pt idx="2">
                <c:v>F/U 3</c:v>
              </c:pt>
              <c:pt idx="3">
                <c:v>F/U 4</c:v>
              </c:pt>
              <c:pt idx="4">
                <c:v>F/U 5</c:v>
              </c:pt>
            </c:strLit>
          </c:cat>
          <c:val>
            <c:numLit>
              <c:formatCode>0.0"%"</c:formatCode>
              <c:ptCount val="5"/>
              <c:pt idx="0">
                <c:v>8.4</c:v>
              </c:pt>
              <c:pt idx="1">
                <c:v>8.1</c:v>
              </c:pt>
              <c:pt idx="2">
                <c:v>7.8</c:v>
              </c:pt>
              <c:pt idx="3">
                <c:v>7.5</c:v>
              </c:pt>
              <c:pt idx="4">
                <c:v>7.1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81A2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6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3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6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1"/>
              </a:solidFill>
              <a:prstDash val="solid"/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DE6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36F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c0a596384923"/>
          <a:stretch xmlns:a="http://schemas.openxmlformats.org/drawingml/2006/main"/>
        </p:blipFill>
        <p:spPr>
          <a:xfrm xmlns:a="http://schemas.openxmlformats.org/drawingml/2006/main">
            <a:off x="6191250" y="609600"/>
            <a:ext cx="5314950" cy="5314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8AAB8-37A2-4BA5-8C2E-09A9796A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5a6943aff4219"/>
          <a:stretch xmlns:a="http://schemas.openxmlformats.org/drawingml/2006/main"/>
        </p:blipFill>
        <p:spPr>
          <a:xfrm xmlns:a="http://schemas.openxmlformats.org/drawingml/2006/main">
            <a:off x="561975" y="523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E059D-859E-4AAB-80A1-C8AB965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DOCTOR WORKING SESSION · SYNTHETIC DATA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90A895-9F84-4728-BB62-AC7001CC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0482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Every follow-up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begins with the full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patient story in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7B5B3-958D-4DB8-97B5-681EF80C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Smaran Health · a doctor-led clinical memory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20C67-D781-466A-8240-91E1AA3D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90E84-F560-4749-B63A-339ABD9D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AI organizes what was documented.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The doctor decides what becomes the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8D816-EB95-434F-9D84-9DCC69EC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SMARAN HEALTH · 2026</a:t>
            </a:r>
          </a:p>
        </p:txBody>
      </p:sp>
    </p:spTree>
    <p:extLst>
      <p:ext uri="{BB962C8B-B14F-4D97-AF65-F5344CB8AC3E}">
        <p14:creationId xmlns:p14="http://schemas.microsoft.com/office/powerpoint/2010/main" val="1908729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98d05692640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BA40E-CDD4-44E1-AED1-1DA06D6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7"/>
          </a:solidFill>
          <a:ln xmlns:a="http://schemas.openxmlformats.org/drawingml/2006/main" w="0">
            <a:solidFill>
              <a:srgbClr val="081A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30004-DB07-457F-A1A6-4032A3C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C0DAA-2E10-47F6-8B75-3DFA848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1962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26D56-CF51-4833-AFE1-CE30E232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solidFill>
              <a:srgbClr val="FF8A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FDE1F-2358-4B04-A04F-5F573186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WORKFLOW HYPOTHESIS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A80C-93EC-4D5B-A383-61B2F11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THE FOLLOW-UP PROBLEM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5F2A73-3409-482E-9EF5-1DF118C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hardest part of follow-up is rebuilding context from fragments.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991B8-4E6C-49CA-BEF3-12007C5C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Previous notes, reports, patient recollection, messages, pending tests and medication changes can live in different places.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16FE1-9A98-426A-BF7E-E550EE90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The opportunity is not more data. It is one trustworthy thread.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0A39C-1901-4E45-9E9A-C8F0215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DA999-E075-4675-B248-F868D8E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B1B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B1B8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519C8-D6AB-41C8-A194-1F4AD6E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3560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240A52-0254-4491-944E-EE604BB6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33799-82AA-4176-A25E-94F24272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67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02EE-E721-45A8-88D9-92D211F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06722-5126-4849-AA79-890A341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38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PRODUCT THESIS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1D4176-EA2B-4598-B30F-CC6FB19A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Smaran turns approved encounters into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CF489-B707-4335-843D-203F5B1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A clinical-memory layer—not a diagnostic or prescribing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D07ED-7FCF-4AC3-BB98-835BFF3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670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5D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30BC4-B5D2-4E96-BF0F-225BB1A4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0D5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8CBAF-0F56-4F5F-ADF6-21A5447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5D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1456A-636E-4197-93A2-48F648A9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5D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FECEA-4FD6-45FF-9CA1-C4B504EA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17526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6EC44-2A5A-4BCF-A023-6A956EDF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CDA73-F254-40DD-AD0E-4ED0A80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Consent &amp;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24594-409F-473A-913A-48B2F9E2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Visible recording or manual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2E4CF-42DF-4049-B487-92736AB5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38375"/>
            <a:ext cx="1524000" cy="17526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EEF41-5CD7-4BA2-BE94-EA433C2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3E643-08AF-4495-979B-33F0EC55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39E4A-4238-4033-83A1-A4238B6D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48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Evidence, confidence, uncertainty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C069F-206D-4751-BB59-2E354DD5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38375"/>
            <a:ext cx="18097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FF2E3"/>
          </a:solidFill>
          <a:ln xmlns:a="http://schemas.openxmlformats.org/drawingml/2006/main" w="19050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83268-EEE6-4D3E-926C-88625984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CBA33-C88C-4FA9-975B-CAFC4EF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Doctor review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&amp;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001F4-7F17-4BFE-8A2B-D103759D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480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The only gate into clinical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5D8FE-4A35-4EAF-9D62-1329A2A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1524000" cy="17526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C946C-B1B0-4AEF-99BB-430077C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70CE3-EF9D-4234-944E-AB1D332F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timeline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DFC8C-32EF-439C-AF34-0DA363D5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Drafts and rejections stay 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76332-DAE1-4914-BE50-68EC3F5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619250" cy="17526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BFDF4-8FE4-4A42-9E32-00A0A79A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5D52F6-B882-4871-BB2E-6313F07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Next-visit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57166-BDBD-4C6F-B3A6-921AA16D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480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What changed and what remains open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E93E64-DC31-4FE8-9EE5-249A4C1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8572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5D3A8-48BC-4A2A-996C-ADEBCA7B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can organize and retrieve. It cannot diagnose, prescribe, alter medication, or finalize a record.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3546F-1FBB-42BD-9D58-041532C0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CE68D4-0CA4-4E7F-A69C-7E58D220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461371-F220-466F-B86D-A2716BE9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4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E3"/>
          </a:solidFill>
          <a:ln xmlns:a="http://schemas.openxmlformats.org/drawingml/2006/main" w="0">
            <a:solidFill>
              <a:srgbClr val="CFF2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9E559-ADA0-44B8-904D-D3DD16A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66C04B-AA19-401A-B055-93CFFEF1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B1B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B1B8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3ADDB6-DA22-4896-B1E7-121BB53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5175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5ec8c04c649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2098B-A453-4F54-93BD-8F6436CB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7"/>
          </a:solidFill>
          <a:ln xmlns:a="http://schemas.openxmlformats.org/drawingml/2006/main" w="0">
            <a:solidFill>
              <a:srgbClr val="081A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4E78F-B891-4145-BCC4-1996774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F2CEE-A58D-49D0-AE36-EF5C725F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67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2CF72-6EAC-44D2-8F0F-76457E9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B2BA8-9406-431F-A55F-6A851E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38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PRODUCT VISION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BAA713-74AE-41C4-AC65-1837D15B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clinic day stays familiar. The record becomes continuous.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942F0-7368-4504-A012-6C50CA95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/ onboard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60027-42AA-4476-9C59-5815F177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62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21F80-3BEC-4127-B6D6-24271E2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A72B5-C26D-417C-BE2B-EFE3540C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62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 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2A29F-AF95-49C5-9595-03F30398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62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 approved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9225C-13E4-4C1C-8D00-1C759956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62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Return with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8A9B9-0C92-4F3D-9C17-E2D1C70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4293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A single thread runs beyond the visit into the next visit.</a:t>
            </a:r>
          </a:p>
        </p:txBody>
      </p:sp>
    </p:spTree>
    <p:extLst>
      <p:ext uri="{BB962C8B-B14F-4D97-AF65-F5344CB8AC3E}">
        <p14:creationId xmlns:p14="http://schemas.microsoft.com/office/powerpoint/2010/main" val="300917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61E0FD-4D4C-4355-AA03-00292943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89E7C-4677-474C-B98B-3416D90E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B326A-7DCC-45AB-92E3-E1ECDCD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3DFFC-05A3-42C6-891E-8F35A85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PRODUCT DIRECTION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D92822-9BEC-4FF6-948D-1B682F95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Onboarding should feel like lookup—not paperwork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881A2-22CE-43A7-AEC9-088B7201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Search first. Create only when needed. Keep identity clinic-scoped and consent scopes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A9827-4C6F-4CAD-A439-10F8D3F5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1E84E-61C6-4FE8-A1AD-CA4BBC0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Minimal demographics and a clear clinic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0CC48-8FBB-48AD-9E9F-846370DB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D5B81-8FAC-425E-9409-7A1CA8FE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Language and contact preference visible at the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D2311-1EE6-4DEA-9DEF-5A4E1F37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78C5F-77DD-491B-B8C5-21FA3716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Assistant actions stay permission-based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8FE49-4C98-4EA5-B23D-521C404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24000"/>
            <a:ext cx="624840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86D1F-38A6-483E-A74F-43A956A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PATIENT LOOKUP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F2AFB-1436-4F4E-BA05-6D3D20F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Who is in front of you?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3A74C-737E-4DDA-83EF-3AC32663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505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1B696-39C5-4CB6-A3A3-6F894C8A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05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E3"/>
          </a:solidFill>
          <a:ln xmlns:a="http://schemas.openxmlformats.org/drawingml/2006/main" w="9525">
            <a:solidFill>
              <a:srgbClr val="70D5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6A390-0FBE-4579-8406-70CF23D0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575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53778-832C-4C16-8FA5-BDDAEA9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Search name · phone · clinic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E1FBA-045B-4856-BFD6-303CA0D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55054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0D5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3DA80-AF04-4E85-B111-8E8C8BD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5CE95-1508-4ABF-B4D5-538AF43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766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0C9DC-E853-4461-A0FB-B1167C87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24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Ananya 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43 years · Pune · DEMO-PN-1042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342A5-9957-4DB0-B433-F57B6E8F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81425"/>
            <a:ext cx="10668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745B"/>
          </a:solidFill>
          <a:ln xmlns:a="http://schemas.openxmlformats.org/drawingml/2006/main" w="9525">
            <a:solidFill>
              <a:srgbClr val="1774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A13EA-5E16-40BD-BCE2-3A481CD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957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profile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5F3A3C-96BC-48F3-94BC-950796E0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9304C-E7B7-43AC-B879-48C03415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No match? Add a patient with only the fields needed for today’s workflow.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A7E449-783B-436B-A098-2C770360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62525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D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F190B-142B-46D2-92E4-F3C70DB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0863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+ New patient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6974C-8A4F-481D-B6E8-97BE281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829300"/>
            <a:ext cx="624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Illustrative future workflow · synthetic 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CAD76-2405-45E2-B642-F6FA03E4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E11AD-AD31-4699-AEA3-0B481684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C5919-D0C8-4E6C-8627-24D6B2B2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8124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8BE5D-CC9E-44ED-A2DF-76B4C0F9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3B43E-175D-405D-8F55-DAD52935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B13E2-099A-4231-BACB-D7430BB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D7396-C03D-4EA7-9541-CE42A0B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SYNTHETIC PROTOTYPE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59B152-448D-4CAC-8313-2A429E54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Recording stays visible, consented, and optional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1AECD-3FA9-471B-9DF6-7C0B090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Declining recording does not affect care; a manual note path remains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E4431-5EF8-471D-B3A3-BCC25363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91125" cy="4171950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551f14ba94eb8"/>
          <a:srcRect xmlns:a="http://schemas.openxmlformats.org/drawingml/2006/main" l="6621" t="0" r="6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981200"/>
            <a:ext cx="4962525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841A6-F1DC-418C-82A1-B4C3E96F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SEPARATE SCOPES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571CD-3FD7-4996-8023-3A3B49FE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Recording and clinical processing do not automatically include patient sharing or model improvement.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BEC0B-8802-4D04-AF5B-5E6886D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66900"/>
            <a:ext cx="5191125" cy="4171950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9b87780b14768"/>
          <a:srcRect xmlns:a="http://schemas.openxmlformats.org/drawingml/2006/main" l="6621" t="0" r="6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1981200"/>
            <a:ext cx="4962525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F2AB3-9B62-4A32-B53F-5868F48A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14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VISIBLE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C6AD3-A09F-425A-A0A2-1A56DFF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524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The doctor can pause, stop, cancel or continue without recording. Consent stays visible in the workflow.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60BA9-93E4-48E5-8823-0B3D9214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8119A-7C69-41C4-9994-CE7F85A3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206A7-C16E-469A-871C-0516F57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7628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34A4D-462D-496D-A5BA-9267D61F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96585-E0BF-43BB-BED8-EB3D480C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BA06C-3989-4FE2-927B-31CF5270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5DB66-333F-44D7-98E6-FB0F0F2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SYNTHETIC PROTOTYPE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37BE1C-652C-494C-876E-1D7A4893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AI prepares the draft. The doctor makes the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13AA1-4831-40F3-8AE9-DFCBB75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Every high-risk field remains editable, evidence-linked and unapproved until the doctor 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A1B7E-EBE7-45A9-A0B0-E8CBA17C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81A27"/>
          </a:solidFill>
          <a:ln xmlns:a="http://schemas.openxmlformats.org/drawingml/2006/main" w="9525">
            <a:solidFill>
              <a:srgbClr val="081A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37DF2-D5A4-4342-B870-66B8A66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REVIEW COCKPIT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98305-40CA-47E6-AFAB-852B7F9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Editable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29617-A08A-47F3-82A7-FF7D0C5A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The note can be corrected before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86CB2-FF47-4343-90D6-E33A29C0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9D9B5-E17C-4B0C-9521-B6D30E5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Source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15845-0FF3-4DAD-B177-8F387B5C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The doctor can inspect the supporting transcript for each field.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0170F-B25F-4C9A-90E2-105EBF5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F8A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1543A-AF90-45DE-A770-BDE55530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81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A493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4937"/>
                </a:solidFill>
                <a:latin typeface="Arial"/>
                <a:ea typeface="Arial"/>
                <a:cs typeface="Arial"/>
              </a:rPr>
              <a:t>Uncertainty stays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92D7C-741C-44E6-B24F-BB6F508C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76771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264a66c544c90"/>
          <a:srcRect xmlns:a="http://schemas.openxmlformats.org/drawingml/2006/main" l="0" t="3879" r="0" b="3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3350" y="1981200"/>
            <a:ext cx="7448550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BEF9C-C6D4-4103-A359-48735AC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048375"/>
            <a:ext cx="767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Only explicit approval can add the note to memory.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A97B1-5BC7-43FA-8B2E-EB2B06F2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55554-FDD2-48BF-9015-B6F1490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D6806-5158-4A31-90C8-3C1E78AD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8062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AFD51-4E73-41DD-B5EB-CEC09E4B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EEA6A-566E-4DF7-AF7E-07680DBF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A5059-66BB-4ABC-893F-A1811FD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ED5E7-A85E-46AA-B811-4E7A27A3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SYNTHETIC PROTOTYPE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3ACFF-CCD1-4D78-9A1B-139230BE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One patient view holds the whole approved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BDAA3-C80E-4048-A674-698647B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The next visit starts with approved context—not a reconstruction exercise.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C63CF-E445-4476-BC4F-90C9211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38d6d2bd744e3"/>
          <a:srcRect xmlns:a="http://schemas.openxmlformats.org/drawingml/2006/main" l="0" t="996" r="0" b="9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981200"/>
            <a:ext cx="7010400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DF98A-0F77-4878-8A58-A6BBBDBE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APPROVED HISTORY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278BB-C95E-4C57-8CA8-43B011C1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Reason for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C2BDF-959A-4EB1-A725-2048492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Why the patient is returning, as documented in the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FE072-7261-4CEE-A8E4-2FB3EE7C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CDC02-7DCA-4498-B257-F33171CC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Medication changes, investigations reviewed, symptoms and prior advice.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03E33-8F0F-4709-BA85-755CD4E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What remains open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FDD15-35AE-4F30-A976-D845F753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Pending reports and unresolved items from approved records.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05945-FD61-4C46-AFC4-C61BF52B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81650"/>
            <a:ext cx="2952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F8A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08D8B-1BB8-4470-B052-89C62B11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7690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8B46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B4638"/>
                </a:solidFill>
                <a:latin typeface="Arial"/>
                <a:ea typeface="Arial"/>
                <a:cs typeface="Arial"/>
              </a:rPr>
              <a:t>Drafts and rejected notes stay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1AE57-F7B1-409A-832A-2556737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356CD-19D4-4235-81CF-716712A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1F781-4FDE-474D-A3E4-8438C38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7972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B8E3B-AB52-456D-90A3-5F4EA28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2126C-B881-4023-A26B-9288A3B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A361D-340E-4F7A-85D2-9314013E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E3817-7549-4703-A47E-1B88ABE6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PRODUCT DIRECTION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135AE2-B7DC-401F-9060-258A6915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Blood reports can become trends—with source and verification attached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0D93E-8105-4844-B816-30ADEAFE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Values become easier to review over time. Interpretation remains with the doctor.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0F8D7-AF2E-4E22-A128-C6566EE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9532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F6311-3E51-44AB-BD18-633FA25F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SYNTHETIC TREND 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D4EE8-3984-4561-BA87-1A9BAE68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HbA1c · last 5 follow-ups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952500" y="3200400"/>
          <a:ext xmlns:a="http://schemas.openxmlformats.org/drawingml/2006/main" cx="63055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500ef004544a17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13B04-BA92-4661-929E-5D8492E1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Synthetic values · no autonomous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4E6D5-C157-42CF-B3FC-39785FD0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5242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81A27"/>
          </a:solidFill>
          <a:ln xmlns:a="http://schemas.openxmlformats.org/drawingml/2006/main" w="9525">
            <a:solidFill>
              <a:srgbClr val="081A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A1244-6E50-4611-85E9-D31E2C7A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PROVENANCE 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C9DDB-40F1-4DE5-B5F5-8A870DE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67354-88CF-4785-919B-25E390E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0E5BC-8EE7-47D5-8E49-F025F3D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accepted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84BFD-2C23-4953-A88D-9A535547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9C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9CD"/>
                </a:solidFill>
                <a:latin typeface="Arial"/>
                <a:ea typeface="Arial"/>
                <a:cs typeface="Arial"/>
              </a:rPr>
              <a:t>Date, file and page retained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E03E1-87D3-42C0-9424-54B97BC7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813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63B36-F775-45A0-ACC5-E98B21F6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187D7-19D8-4B14-B774-CDFE4AB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636B6-6D6D-4C05-A6DE-C25B9F3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 extracted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D8167-AD23-45AA-A116-9EC1036F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9C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9CD"/>
                </a:solidFill>
                <a:latin typeface="Arial"/>
                <a:ea typeface="Arial"/>
                <a:cs typeface="Arial"/>
              </a:rPr>
              <a:t>Shown as unverified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B63BA-C35A-45B5-BCBF-528F24EC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29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75FA0-ECBA-4A22-BE1B-D3FF6984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CF3D1-42F1-436E-94D8-B7A96253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AF368-02B1-4C6E-A819-7108C7A5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Doctor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36496-97AF-4870-A910-4737F07D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9C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9CD"/>
                </a:solidFill>
                <a:latin typeface="Arial"/>
                <a:ea typeface="Arial"/>
                <a:cs typeface="Arial"/>
              </a:rPr>
              <a:t>Units and source confirmed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FACEE-134F-420A-8709-92B4ABA3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767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DD5EE-9F05-4552-BD23-8BC6131B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9525">
            <a:solidFill>
              <a:srgbClr val="70D5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A4BB3-0D51-47F4-8481-B6333CCE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81A2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1A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97EA7-BAC3-473D-8569-417B214C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81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Trend eligible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F2C225-B350-4155-8468-5643392D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9C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9CD"/>
                </a:solidFill>
                <a:latin typeface="Arial"/>
                <a:ea typeface="Arial"/>
                <a:cs typeface="Arial"/>
              </a:rPr>
              <a:t>Verified value enters the 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F6B7A-089B-4EC5-8502-8B4FC78C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82930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Future concept · not a live lab integration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0DDBC6-DEB6-4E02-AEFD-1D1EF83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2F4203-5B9B-437E-B7E0-3757D115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9A693-2C42-4609-B8A4-CB899C87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7592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C1B22-7185-4E38-82DE-10C0922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150FD-D6FC-448B-819B-2236228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05F1F-0995-4522-A8C3-8B951358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DF774-1B0F-4123-AC94-88F7CA5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SYNTHETIC PROTOTYPE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00712-5552-4066-8C1F-3EF62383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The next visit opens with what changed—and what remains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B1392-36CE-49C4-A9E1-E91C8C3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A concise brief is derived only from approved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A5827-3A9D-47DF-AACF-E14EDD33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37A4-3B5D-4714-AFA7-4A4D1D4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81250" cy="36385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81A27"/>
          </a:solidFill>
          <a:ln xmlns:a="http://schemas.openxmlformats.org/drawingml/2006/main" w="9525">
            <a:solidFill>
              <a:srgbClr val="081A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FBA1D-5F78-4419-9451-CC83CA5F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PRE-VISIT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31E41-7CAB-48C1-98BB-13930DF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Ananya 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6A6C1-6577-425A-B3AC-FE776F33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43 years · Pune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Diabetes / Endocrinology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F5B60-C45B-42B6-9EC0-B4B2FAB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BD790-F4CC-46A8-9C21-620170F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Reason for return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633C4-48D7-485F-A32B-06C6F17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Four-week review of the home sugar log and adherence.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DDA30-5B10-4DF8-9785-C2A05A7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LAST APPROVED VISIT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D313A-D19D-470A-A93E-AACDA09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337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Home fasting readings were documented mostly between 128 and 142. No dizziness or low-sugar symptoms were reported.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C34F6-0E2A-451E-A9FD-5BDF1BB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D7798-6D03-4394-B0C9-533BED40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DOCUMENTED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5E711-1760-4A85-9471-3ECC7A48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No medication change was explicitly stated in the current consultation.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B7546-2C41-4FBB-96B6-E47193A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8A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8A6B"/>
                </a:solidFill>
                <a:latin typeface="Arial"/>
                <a:ea typeface="Arial"/>
                <a:cs typeface="Arial"/>
              </a:rPr>
              <a:t>OPEN LOOPS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722E8-76BC-4630-A439-ADB1C5D5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886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F8A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ACD30-86EE-43D7-ACFB-BBB0DC38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493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A4937"/>
                </a:solidFill>
                <a:latin typeface="Arial"/>
                <a:ea typeface="Arial"/>
                <a:cs typeface="Arial"/>
              </a:rPr>
              <a:t>Pending investigation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12E16-DC9B-4EF5-BCCC-86AF7F5A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718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HbA1c report remains to be reviewed when available.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3F32E-E1AA-4136-A97F-C9E088FA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3886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628D3-89E2-488F-8120-01F0302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00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Unresolved item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B4E70-9A62-4213-A44D-ED626F8F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053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The dates of the two missed log entries were not stated.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CD097-38A7-4371-939E-45EE595A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05450"/>
            <a:ext cx="769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745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745B"/>
                </a:solidFill>
                <a:latin typeface="Arial"/>
                <a:ea typeface="Arial"/>
                <a:cs typeface="Arial"/>
              </a:rPr>
              <a:t>✓ Derived only from doctor-approved synthetic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FE7B2-8C21-473B-B15F-FE10080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F249D-89C3-485E-8F53-48AFF7EE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1D6BCA-8749-4A13-B874-49CD94D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96032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8DBDB2-6281-49E0-9A10-CAB1945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66D56-8257-409F-81A2-9B532E51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831A8-7FB7-4145-828E-A1D5CF69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F8CBD-6A1A-45D3-924E-CB05C8DD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PRODUCT DIRECTION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AB26E3-5E79-4817-83D1-38B961FA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The approved plan should leave the clinic as clearly as it was explained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CC069-2749-413D-968B-C88DD2D6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Print and PDF first; secure WhatsApp handoff later—only after approval and separate sharing consent.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E120-E05E-4B02-A52A-55432D05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D5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EC420-DC1A-42CB-812C-F2030CCD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8BE2A-1830-4974-AB0A-D7AFBE3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60738-5101-4722-B2A4-970210D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Review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E81B5-5726-41C1-A120-86ED70C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485A1-4BE3-4D3B-BDB0-A04F77E6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A2BBD-B52F-4E0C-A4C4-B2F930B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956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Confirm recipient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+ channel consent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4555F-0CAC-4059-8D2D-4BDFB0B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BB89E-3547-4B6A-8FB3-81F3569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67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FDA9E-8A1D-4A88-A3C6-AF8DDDF2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Deliberate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F586E-38AC-45FA-9795-15BBEAD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57150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F919-6293-4CB3-BE95-6DFB286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Share only doctor-approved material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20BCC-A3C0-48EE-AD5F-63B1EF51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Patient summary + doctor-authored or explicitly approved prescription copy. Never raw audio or transcript.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76013-6FBA-49C9-9FAF-C2370F6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2952750" cy="38290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081A27"/>
          </a:solidFill>
          <a:ln xmlns:a="http://schemas.openxmlformats.org/drawingml/2006/main" w="28575">
            <a:solidFill>
              <a:srgbClr val="102A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2F2D3-16F3-4870-85C7-36C36565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2533650" cy="314325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0">
            <a:solidFill>
              <a:srgbClr val="F4F8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E8BA6-3715-425A-B9F3-25539B7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Doctor-approved documents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F6301-029C-4B85-B881-A5F6F8D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B9DE6-AC58-4041-B778-FF30154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FC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FCD"/>
                </a:solidFill>
                <a:latin typeface="Arial"/>
                <a:ea typeface="Arial"/>
                <a:cs typeface="Arial"/>
              </a:rPr>
              <a:t>SUMMARY.PDF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749E5-5CBF-490E-969C-0D97271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Visit summary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Patient instructions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60384-375F-40C0-A1AB-2B4E7D7F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709A6E-602A-424A-9756-169F96C1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FC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FCD"/>
                </a:solidFill>
                <a:latin typeface="Arial"/>
                <a:ea typeface="Arial"/>
                <a:cs typeface="Arial"/>
              </a:rPr>
              <a:t>PRESCRIPTION COPY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37173-9E26-4597-8955-E7E4935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Doctor-authored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or explicitly approved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3A6A5-BE12-4F4B-B1A1-B7CA876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1962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745B"/>
          </a:solidFill>
          <a:ln xmlns:a="http://schemas.openxmlformats.org/drawingml/2006/main" w="9525">
            <a:solidFill>
              <a:srgbClr val="1774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6915D-0235-4E9A-881D-D7709B4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24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to share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F3AA8-69DD-4F2C-BE7B-C2AA702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579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Illustrative concept · no automatic sending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B6162F-2A3A-4609-A51B-E0BFF86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7AFF9-2758-407A-9B71-BB467A56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DE5AC-A85A-477C-85CF-98DC483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87933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56CBB8-CC00-4AA9-96C1-5A8D463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8A0EC-9780-4611-B1BF-62DF52C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2FCA1-E706-464B-A97E-11061479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77058-6BA8-41EF-8103-EF29B00B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PRODUCT DIRECTION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C1BDE0-431F-4CC9-BEFC-A19F649D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A calm dashboard can make follow-up work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63788-CDB6-479F-A34F-EBC46C86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Administrative visibility—never clinical risk scoring or treatment recommendation.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FA53E-A7A6-4E48-A45D-D137E7AB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F52D6-2182-4771-9DDD-0F8D077B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00250" cy="4095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81A27"/>
          </a:solidFill>
          <a:ln xmlns:a="http://schemas.openxmlformats.org/drawingml/2006/main" w="9525">
            <a:solidFill>
              <a:srgbClr val="081A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5B8AE-EC2C-4868-B96E-2218A45A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8A0B3-7FED-482D-9896-7133B48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Meera’s Clinic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D3780-F20C-422B-B88E-50393BE6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Illustrative synthetic 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F76E9-5C4E-461A-B5D4-8EABBB3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96227-75A4-4300-9D3F-ACB4EFFC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9572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Drafts waiting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9225A-711D-4127-BF21-10932F85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8A6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FF8A6B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32032-7833-4579-A519-0CD80E1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0532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Follow-ups due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C948A-1C00-41C9-82B0-953C3A41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02544-440C-4F61-87AE-0FE6833D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Reports 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D140B-A566-4310-A130-41983065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CLINIC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225B6-EAE5-4560-A3BE-04227A3E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6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B6E7A-FCEB-436E-BF02-1C92FEC9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24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19050">
            <a:solidFill>
              <a:srgbClr val="70D5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0015A-FF74-4C95-A32C-42CD7F60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09:00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2DD86-7AD4-46A1-9240-DDDC58B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765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A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1A27"/>
                </a:solidFill>
                <a:latin typeface="Arial"/>
                <a:ea typeface="Arial"/>
                <a:cs typeface="Arial"/>
              </a:rPr>
              <a:t>A.S.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10E50-7805-4134-B397-30963B0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765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Follow-up · memory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080DF-4DCF-44BD-AC22-AD5A60F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F7200-647F-46FE-A1DD-65FD3C18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09:20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3F393-6A1A-4DE2-8DFE-EA6C21B6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051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A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1A27"/>
                </a:solidFill>
                <a:latin typeface="Arial"/>
                <a:ea typeface="Arial"/>
                <a:cs typeface="Arial"/>
              </a:rPr>
              <a:t>R.K.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3F40B-0539-4FB2-B80D-20E55ECA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051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New patient · onboarding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348D2-A1ED-414B-BE8E-D89A229D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005C0-2F97-47E9-AFC7-73DE760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719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09:40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55B7C-ABB3-4792-91A6-37D87CB5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33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A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1A27"/>
                </a:solidFill>
                <a:latin typeface="Arial"/>
                <a:ea typeface="Arial"/>
                <a:cs typeface="Arial"/>
              </a:rPr>
              <a:t>M.P.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31499E-38A0-4663-9939-F93DB34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338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Follow-up · report pending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B0278-AB98-4D9A-BE74-35673EC1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10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6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DAFDA-68EB-448E-857C-4965CBCF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00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EB7D2A-A013-4531-A823-F2DBB9FF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62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A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1A27"/>
                </a:solidFill>
                <a:latin typeface="Arial"/>
                <a:ea typeface="Arial"/>
                <a:cs typeface="Arial"/>
              </a:rPr>
              <a:t>S.N.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414A72-5A7B-4BF1-B24E-E3FB2E84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624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Draft awaits approval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540BC-B599-4435-A062-9245402D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14022-90B8-4F8D-9A76-2890DDCC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FOLLOW-UP CONTINUITY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0BE9F-35AA-4E2E-87A0-20F7CBA4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276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FF2E3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541BB6-F900-438E-A27F-3B39240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Due this week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910724-8312-43B2-83EF-C3D5F1FF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Doctor-defined return windows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2DF9C5-63FE-4106-997F-0256A74B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276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91F4AC-9A05-45B9-862C-F6E8D27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Overdue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CD9469-CCCA-44D0-95F8-DFB3944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Appropriate re-engagement queue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B418B0-833D-4CCE-B97D-CEDE5AE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276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8CACCB-A102-41FA-B23D-9B1759F5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Pending report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24AF2B-534C-446C-BF50-1781E90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Open loop before next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1E0EE4-6710-41A1-A9D1-A2587264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483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No autonomous alerts · no clinical prioritisation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352E51-66C9-4DF2-A45F-2C4F5FB3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6B814E-B6FE-4074-B849-51F70E0F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B72F6F-0786-41A8-AF46-82E3BDD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980322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F77AC-340C-43A2-A749-25382A7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B0691-26C3-4D94-ADA0-566C9376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65BCE-1FC3-423E-BD96-B1F19140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solidFill>
              <a:srgbClr val="FF8A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4FE6A-6751-483D-9B81-18DC0FC2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3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PILOT HYPOTHESIS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2B89C4-5D33-4A95-A150-E707778D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Continuity may strengthen follow-ups. Practice growth must be 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87226-9E71-4BE7-AD57-CE99EDA5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Footfall is not the mechanism. Better continuity is the hypothesis.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E5942-C66C-435F-804A-1645EE47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24100" cy="2476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E46C0-0E3C-44F4-9F70-15E9E16E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9CC9B-3772-4430-BE53-7D4E8040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Less documentation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and retrieval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EE557-8AFB-4BD6-BA4D-0D57B43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187FC-9C3A-454E-9B12-E599EF1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may recover attention and appointment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50CDC-8E17-4CB6-B111-1A0DAC54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2324100" cy="2476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256FB-0419-4A50-922F-EECB3315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61B56-55E6-453E-BCF1-AB89B47A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Visible doctor-defined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follow-up loops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6633E-C6AB-43DD-B46A-43F91D1F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62B8D-2790-4C52-9738-1A6F315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may improve completed return visits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BEA46-0931-4979-8B78-7C637121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24100"/>
            <a:ext cx="2324100" cy="2476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9DAE1-D4A6-492B-AE44-0FCA3C7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79672-7184-4547-AF4C-A09ADA23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Clear approved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take-home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7EAA0-21B2-46B1-B08B-3A56AE7D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D79D8-B76B-44CC-9071-46023E4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8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may strengthen continuity and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8E77A-668A-4231-90A9-630CAFD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D5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EE128-3FD2-4FB0-9761-D4857C15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2457450" cy="247650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CFF2E3"/>
          </a:solidFill>
          <a:ln xmlns:a="http://schemas.openxmlformats.org/drawingml/2006/main" w="19050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2F520-68D4-424F-A131-83E44AB9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MEASURE BASELINE → 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55C3B-8B5B-4D25-A009-9FF98B9B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66"/>
          </a:solidFill>
          <a:ln xmlns:a="http://schemas.openxmlformats.org/drawingml/2006/main" w="0">
            <a:solidFill>
              <a:srgbClr val="155D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B5718-3DF0-45AC-AC6B-9BABEAD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After-hours documentation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F665C-DF25-4397-BB9B-07A9C61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66"/>
          </a:solidFill>
          <a:ln xmlns:a="http://schemas.openxmlformats.org/drawingml/2006/main" w="0">
            <a:solidFill>
              <a:srgbClr val="155D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478AF-549E-4561-988D-AEA7BE76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813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Consultations per session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06475-BC6E-41A1-AE11-906C6E3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solidFill>
              <a:srgbClr val="FF8A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2E906-70C9-4CA9-BEFF-6246345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90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Eligible follow-ups completed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F460A4-8663-43A6-BB31-2DEA5069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66"/>
          </a:solidFill>
          <a:ln xmlns:a="http://schemas.openxmlformats.org/drawingml/2006/main" w="0">
            <a:solidFill>
              <a:srgbClr val="155D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45C48-A15E-417B-8907-DFE2C0F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00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7201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1E"/>
                </a:solidFill>
                <a:latin typeface="Arial"/>
                <a:ea typeface="Arial"/>
                <a:cs typeface="Arial"/>
              </a:rPr>
              <a:t>Appropriate overdue recovery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56D07-AC33-4C64-A71E-7B82EC08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FFC9E5-AAE4-4772-85CD-5D49F0D8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promise of more footfall. No guaranteed follow-up lift. Compare explicit baselines, denominators and doctor-defined windows.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618D4-838D-492A-B70E-C668DFE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04F22-3309-49B1-846C-6E5D38DC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B1B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B1B8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615F3-C6B9-4816-94CC-538DC4F9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9972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F3803D-D38B-4771-A506-B68E940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D0DFB-5837-41BA-A82B-CEBE27F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5303B-DE42-486B-8D96-7430CC91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2C92-E1D1-4902-A39A-2215C44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SAFETY INVARIANT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34A14F-EC3E-43F8-9705-BAD54BED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Trust is a workflow, not a disclaimer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AA0D2-4C79-45D6-83F7-698F65B2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The patient-memory thread must pass through four non-negotiable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4BC03-8100-442F-920F-95BF5EEF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0D5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C79CD-BF6B-4159-AFE3-E8B627CA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67E7D-FFB8-40EE-BBA9-B1C4A590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250D6-18B1-41BA-9F95-B954F74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Consent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84827-AA45-48EF-AFEF-D83BF63E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Version, language, method and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6BE5E-B109-49DC-B465-9E84B43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19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098CD-0BFF-4176-8B41-061AD6F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67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63968-99DD-42A2-A5C2-54C7E647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10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Clinic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D1AB4-2FB3-4EC6-8F0D-82D0B951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Every patient record scoped to the clinic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020F2-0AAE-4710-96EC-512668C4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0D5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D5F8E-0EA8-4998-862B-2C68B3D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0D4F4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F8363-4417-423F-A2F6-879CA2CE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0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B53A9-710F-402D-B8AC-BF714BD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291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Evidence and uncertainty stay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2BDB5-E8E1-407D-B647-ACBA6113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66"/>
          </a:solidFill>
          <a:ln xmlns:a="http://schemas.openxmlformats.org/drawingml/2006/main" w="38100">
            <a:solidFill>
              <a:srgbClr val="155D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D2B23-ED85-4B88-B072-E982F7D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DE66E-736B-44FA-B4EA-6C5F11B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Doctor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368B8-F8EB-4C37-982D-5F2FC148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 i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6F"/>
                </a:solidFill>
                <a:latin typeface="Arial"/>
                <a:ea typeface="Arial"/>
                <a:cs typeface="Arial"/>
              </a:rPr>
              <a:t>Only approved content enters memory or sharing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EA239-3189-4C1E-AFAB-49C5304A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58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27"/>
          </a:solidFill>
          <a:ln xmlns:a="http://schemas.openxmlformats.org/drawingml/2006/main" w="9525">
            <a:solidFill>
              <a:srgbClr val="081A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E09871-0F8D-4597-9202-FD1F76D9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38775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audio  ·  No clinical content in analytics logs  ·  Immutable approved records with attributable amendments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82BD3-990F-492F-A270-71E2966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B40528-2F55-4E44-A963-C026828B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79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793"/>
                </a:solidFill>
                <a:latin typeface="Arial"/>
                <a:ea typeface="Arial"/>
                <a:cs typeface="Arial"/>
              </a:rPr>
              <a:t>Clinical memory for specialist follow-ups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E15C3-C908-47E1-8C38-036C08A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53967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52014-C095-41D6-80ED-A3F2DF1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SMARAN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06456-CBB4-4A2E-BBA1-6B545DBF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6F449-BD5D-43EC-86F1-F7D4899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0">
            <a:solidFill>
              <a:srgbClr val="70D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22713-3C41-4F83-96D3-B047F684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PLANNED PILOT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4AA069-7F7C-48A4-BCCF-EF44E7B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This future should be earned—doctor by doctor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11467-2807-47DA-9444-F132DDA8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7F1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E7F1ED"/>
                </a:solidFill>
                <a:latin typeface="Arial"/>
                <a:ea typeface="Arial"/>
                <a:cs typeface="Arial"/>
              </a:rPr>
              <a:t>Synthetic workflow → controlled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EF3A2-F8C1-4EC5-90BF-A4AB2A4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5D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BB33C-6BD4-4FAC-A85F-2D483388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28575">
            <a:solidFill>
              <a:srgbClr val="155D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73CB4-37FF-4FFA-B181-8D77CA3E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FD8D5-008F-481B-9128-A93A9C3A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14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Synthetic walkthrough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F9141-8CCA-4352-A085-1E6A1033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38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No real patient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2FD6E-199B-4A6E-829E-2665962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28575">
            <a:solidFill>
              <a:srgbClr val="155D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71B70-F94C-4A20-8AF0-207D4EC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B6DA1-9C9B-4D43-AF13-BFBD7F34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Specialist usability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5E4C3-B8D5-415F-9065-65FEF4E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Fix blocking safety and comprehension issues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988F6-B122-4203-9580-FC40393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28575">
            <a:solidFill>
              <a:srgbClr val="155D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7F19B-E39E-411D-A52E-94B8C939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70D5A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41F8F-97B3-49CA-B35E-45B85EBB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Privacy, legal &amp; security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974A3-B3A3-4F76-A673-A1BD2D55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Approve consent, retention and incident 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F66D4-C5D3-454A-B511-DB2017DA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5AD"/>
          </a:solidFill>
          <a:ln xmlns:a="http://schemas.openxmlformats.org/drawingml/2006/main" w="28575">
            <a:solidFill>
              <a:srgbClr val="70D5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2AEC3-782B-497D-96C9-789804E6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BA60A-698E-4702-81C4-D1A4E46D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Controlled consented 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33191-332A-43DF-B7F6-03903CD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6C9C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C9CE"/>
                </a:solidFill>
                <a:latin typeface="Arial"/>
                <a:ea typeface="Arial"/>
                <a:cs typeface="Arial"/>
              </a:rPr>
              <a:t>Workflow evidence with explicit measurements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F56B6C-45D0-4079-A4C0-77CF80D6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CCF33-E18B-479C-A6BE-754EAB2B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Planned scope: 2–5 doctors · 2–3 clinics · 50–150 consented consultations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4EAC0-7B59-444E-9C6A-0B15624A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53149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4F3C7-EC94-438E-9DD0-F5A8CEEF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D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5D66"/>
                </a:solidFill>
                <a:latin typeface="Arial"/>
                <a:ea typeface="Arial"/>
                <a:cs typeface="Arial"/>
              </a:rPr>
              <a:t>THE PRODUCTIVE QUESTIONS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63B9F-5633-46F5-A041-683AEDA4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What do you need to see first before a follow-up?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14821-EEFF-4615-8ACD-E06A91B5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9D8AE-FAF0-4184-BE7C-F53B4EB8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290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What would make reviewing a draft faster and safer?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8F114C-13B9-43BB-A5EF-4E1A9A8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02A952-54A4-4EDD-9467-CF9CFEAB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81A27"/>
                </a:solidFill>
                <a:latin typeface="Avenir Next"/>
                <a:ea typeface="Avenir Next"/>
                <a:cs typeface="Avenir Next"/>
              </a:rPr>
              <a:t>Which follow-up loop most often breaks today?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A95FB3-FCA5-48F6-874F-21F4422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245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0D4F4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D4F40"/>
                </a:solidFill>
                <a:latin typeface="Arial"/>
                <a:ea typeface="Arial"/>
                <a:cs typeface="Arial"/>
              </a:rPr>
              <a:t>Workflow evidence—not broad clinical-safety validation.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E2951-8C0C-44F3-B96F-29A3F28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FF2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FF2E3"/>
                </a:solidFill>
                <a:latin typeface="Arial"/>
                <a:ea typeface="Arial"/>
                <a:cs typeface="Arial"/>
              </a:rPr>
              <a:t>The future is not an AI doctor. It is a doctor who never loses the patient story.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C5E06-3AA9-41C8-9369-F884C48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D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D5A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7185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2026-08-12T19:19:13.8460000Z</dcterms:created>
  <dcterms:modified xsi:type="dcterms:W3CDTF">2026-08-12T19:19:13.8460000Z</dcterms:modified>
</coreProperties>
</file>